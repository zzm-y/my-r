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92" r:id="rId4"/>
    <p:sldId id="299" r:id="rId5"/>
    <p:sldId id="302" r:id="rId7"/>
    <p:sldId id="301" r:id="rId8"/>
    <p:sldId id="308" r:id="rId9"/>
    <p:sldId id="307" r:id="rId10"/>
    <p:sldId id="311" r:id="rId11"/>
    <p:sldId id="309" r:id="rId12"/>
    <p:sldId id="303" r:id="rId13"/>
    <p:sldId id="304" r:id="rId14"/>
    <p:sldId id="305" r:id="rId15"/>
    <p:sldId id="313" r:id="rId16"/>
    <p:sldId id="312" r:id="rId1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57" d="100"/>
          <a:sy n="157" d="100"/>
        </p:scale>
        <p:origin x="294" y="132"/>
      </p:cViewPr>
      <p:guideLst>
        <p:guide orient="horz" pos="13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5C5D1-AD16-4B01-871F-DE047A6CF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DE635-3FC4-4B83-A3D1-632FFA341E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.png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2790508" y="3988435"/>
            <a:ext cx="356489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000" dirty="0">
                <a:solidFill>
                  <a:schemeClr val="tx1"/>
                </a:solidFill>
              </a:rPr>
              <a:t>汇报人：</a:t>
            </a:r>
            <a:r>
              <a:rPr lang="en-US" altLang="zh-CN" sz="2000" dirty="0">
                <a:solidFill>
                  <a:schemeClr val="tx1"/>
                </a:solidFill>
              </a:rPr>
              <a:t>张铭钰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Freeform 6"/>
          <p:cNvSpPr>
            <a:spLocks noEditPoints="1"/>
          </p:cNvSpPr>
          <p:nvPr/>
        </p:nvSpPr>
        <p:spPr bwMode="auto">
          <a:xfrm>
            <a:off x="4344353" y="727563"/>
            <a:ext cx="457200" cy="593986"/>
          </a:xfrm>
          <a:custGeom>
            <a:avLst/>
            <a:gdLst>
              <a:gd name="T0" fmla="*/ 891 w 1347"/>
              <a:gd name="T1" fmla="*/ 639 h 1750"/>
              <a:gd name="T2" fmla="*/ 673 w 1347"/>
              <a:gd name="T3" fmla="*/ 728 h 1750"/>
              <a:gd name="T4" fmla="*/ 555 w 1347"/>
              <a:gd name="T5" fmla="*/ 706 h 1750"/>
              <a:gd name="T6" fmla="*/ 456 w 1347"/>
              <a:gd name="T7" fmla="*/ 639 h 1750"/>
              <a:gd name="T8" fmla="*/ 398 w 1347"/>
              <a:gd name="T9" fmla="*/ 639 h 1750"/>
              <a:gd name="T10" fmla="*/ 397 w 1347"/>
              <a:gd name="T11" fmla="*/ 696 h 1750"/>
              <a:gd name="T12" fmla="*/ 525 w 1347"/>
              <a:gd name="T13" fmla="*/ 781 h 1750"/>
              <a:gd name="T14" fmla="*/ 673 w 1347"/>
              <a:gd name="T15" fmla="*/ 810 h 1750"/>
              <a:gd name="T16" fmla="*/ 949 w 1347"/>
              <a:gd name="T17" fmla="*/ 696 h 1750"/>
              <a:gd name="T18" fmla="*/ 949 w 1347"/>
              <a:gd name="T19" fmla="*/ 639 h 1750"/>
              <a:gd name="T20" fmla="*/ 891 w 1347"/>
              <a:gd name="T21" fmla="*/ 639 h 1750"/>
              <a:gd name="T22" fmla="*/ 987 w 1347"/>
              <a:gd name="T23" fmla="*/ 1525 h 1750"/>
              <a:gd name="T24" fmla="*/ 987 w 1347"/>
              <a:gd name="T25" fmla="*/ 1525 h 1750"/>
              <a:gd name="T26" fmla="*/ 360 w 1347"/>
              <a:gd name="T27" fmla="*/ 1525 h 1750"/>
              <a:gd name="T28" fmla="*/ 318 w 1347"/>
              <a:gd name="T29" fmla="*/ 1566 h 1750"/>
              <a:gd name="T30" fmla="*/ 360 w 1347"/>
              <a:gd name="T31" fmla="*/ 1607 h 1750"/>
              <a:gd name="T32" fmla="*/ 987 w 1347"/>
              <a:gd name="T33" fmla="*/ 1607 h 1750"/>
              <a:gd name="T34" fmla="*/ 1027 w 1347"/>
              <a:gd name="T35" fmla="*/ 1566 h 1750"/>
              <a:gd name="T36" fmla="*/ 987 w 1347"/>
              <a:gd name="T37" fmla="*/ 1525 h 1750"/>
              <a:gd name="T38" fmla="*/ 1347 w 1347"/>
              <a:gd name="T39" fmla="*/ 674 h 1750"/>
              <a:gd name="T40" fmla="*/ 1347 w 1347"/>
              <a:gd name="T41" fmla="*/ 674 h 1750"/>
              <a:gd name="T42" fmla="*/ 1149 w 1347"/>
              <a:gd name="T43" fmla="*/ 198 h 1750"/>
              <a:gd name="T44" fmla="*/ 673 w 1347"/>
              <a:gd name="T45" fmla="*/ 0 h 1750"/>
              <a:gd name="T46" fmla="*/ 197 w 1347"/>
              <a:gd name="T47" fmla="*/ 198 h 1750"/>
              <a:gd name="T48" fmla="*/ 0 w 1347"/>
              <a:gd name="T49" fmla="*/ 674 h 1750"/>
              <a:gd name="T50" fmla="*/ 86 w 1347"/>
              <a:gd name="T51" fmla="*/ 1005 h 1750"/>
              <a:gd name="T52" fmla="*/ 292 w 1347"/>
              <a:gd name="T53" fmla="*/ 1229 h 1750"/>
              <a:gd name="T54" fmla="*/ 292 w 1347"/>
              <a:gd name="T55" fmla="*/ 1418 h 1750"/>
              <a:gd name="T56" fmla="*/ 360 w 1347"/>
              <a:gd name="T57" fmla="*/ 1487 h 1750"/>
              <a:gd name="T58" fmla="*/ 987 w 1347"/>
              <a:gd name="T59" fmla="*/ 1487 h 1750"/>
              <a:gd name="T60" fmla="*/ 1055 w 1347"/>
              <a:gd name="T61" fmla="*/ 1418 h 1750"/>
              <a:gd name="T62" fmla="*/ 1055 w 1347"/>
              <a:gd name="T63" fmla="*/ 1229 h 1750"/>
              <a:gd name="T64" fmla="*/ 1260 w 1347"/>
              <a:gd name="T65" fmla="*/ 1005 h 1750"/>
              <a:gd name="T66" fmla="*/ 1347 w 1347"/>
              <a:gd name="T67" fmla="*/ 674 h 1750"/>
              <a:gd name="T68" fmla="*/ 1142 w 1347"/>
              <a:gd name="T69" fmla="*/ 938 h 1750"/>
              <a:gd name="T70" fmla="*/ 1142 w 1347"/>
              <a:gd name="T71" fmla="*/ 938 h 1750"/>
              <a:gd name="T72" fmla="*/ 1141 w 1347"/>
              <a:gd name="T73" fmla="*/ 938 h 1750"/>
              <a:gd name="T74" fmla="*/ 951 w 1347"/>
              <a:gd name="T75" fmla="*/ 1135 h 1750"/>
              <a:gd name="T76" fmla="*/ 919 w 1347"/>
              <a:gd name="T77" fmla="*/ 1193 h 1750"/>
              <a:gd name="T78" fmla="*/ 918 w 1347"/>
              <a:gd name="T79" fmla="*/ 1193 h 1750"/>
              <a:gd name="T80" fmla="*/ 918 w 1347"/>
              <a:gd name="T81" fmla="*/ 1350 h 1750"/>
              <a:gd name="T82" fmla="*/ 429 w 1347"/>
              <a:gd name="T83" fmla="*/ 1350 h 1750"/>
              <a:gd name="T84" fmla="*/ 429 w 1347"/>
              <a:gd name="T85" fmla="*/ 1193 h 1750"/>
              <a:gd name="T86" fmla="*/ 389 w 1347"/>
              <a:gd name="T87" fmla="*/ 1132 h 1750"/>
              <a:gd name="T88" fmla="*/ 205 w 1347"/>
              <a:gd name="T89" fmla="*/ 938 h 1750"/>
              <a:gd name="T90" fmla="*/ 136 w 1347"/>
              <a:gd name="T91" fmla="*/ 674 h 1750"/>
              <a:gd name="T92" fmla="*/ 294 w 1347"/>
              <a:gd name="T93" fmla="*/ 295 h 1750"/>
              <a:gd name="T94" fmla="*/ 673 w 1347"/>
              <a:gd name="T95" fmla="*/ 137 h 1750"/>
              <a:gd name="T96" fmla="*/ 1053 w 1347"/>
              <a:gd name="T97" fmla="*/ 295 h 1750"/>
              <a:gd name="T98" fmla="*/ 1210 w 1347"/>
              <a:gd name="T99" fmla="*/ 674 h 1750"/>
              <a:gd name="T100" fmla="*/ 1142 w 1347"/>
              <a:gd name="T101" fmla="*/ 938 h 1750"/>
              <a:gd name="T102" fmla="*/ 855 w 1347"/>
              <a:gd name="T103" fmla="*/ 1668 h 1750"/>
              <a:gd name="T104" fmla="*/ 855 w 1347"/>
              <a:gd name="T105" fmla="*/ 1668 h 1750"/>
              <a:gd name="T106" fmla="*/ 492 w 1347"/>
              <a:gd name="T107" fmla="*/ 1668 h 1750"/>
              <a:gd name="T108" fmla="*/ 450 w 1347"/>
              <a:gd name="T109" fmla="*/ 1709 h 1750"/>
              <a:gd name="T110" fmla="*/ 492 w 1347"/>
              <a:gd name="T111" fmla="*/ 1750 h 1750"/>
              <a:gd name="T112" fmla="*/ 855 w 1347"/>
              <a:gd name="T113" fmla="*/ 1750 h 1750"/>
              <a:gd name="T114" fmla="*/ 896 w 1347"/>
              <a:gd name="T115" fmla="*/ 1709 h 1750"/>
              <a:gd name="T116" fmla="*/ 855 w 1347"/>
              <a:gd name="T117" fmla="*/ 1668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47" h="1750">
                <a:moveTo>
                  <a:pt x="891" y="639"/>
                </a:moveTo>
                <a:cubicBezTo>
                  <a:pt x="836" y="694"/>
                  <a:pt x="758" y="728"/>
                  <a:pt x="673" y="728"/>
                </a:cubicBezTo>
                <a:cubicBezTo>
                  <a:pt x="631" y="728"/>
                  <a:pt x="591" y="720"/>
                  <a:pt x="555" y="706"/>
                </a:cubicBezTo>
                <a:cubicBezTo>
                  <a:pt x="517" y="691"/>
                  <a:pt x="484" y="667"/>
                  <a:pt x="456" y="639"/>
                </a:cubicBezTo>
                <a:cubicBezTo>
                  <a:pt x="440" y="623"/>
                  <a:pt x="413" y="623"/>
                  <a:pt x="398" y="639"/>
                </a:cubicBezTo>
                <a:cubicBezTo>
                  <a:pt x="382" y="655"/>
                  <a:pt x="382" y="681"/>
                  <a:pt x="397" y="696"/>
                </a:cubicBezTo>
                <a:cubicBezTo>
                  <a:pt x="433" y="732"/>
                  <a:pt x="477" y="761"/>
                  <a:pt x="525" y="781"/>
                </a:cubicBezTo>
                <a:cubicBezTo>
                  <a:pt x="570" y="800"/>
                  <a:pt x="621" y="810"/>
                  <a:pt x="673" y="810"/>
                </a:cubicBezTo>
                <a:cubicBezTo>
                  <a:pt x="781" y="810"/>
                  <a:pt x="878" y="767"/>
                  <a:pt x="949" y="696"/>
                </a:cubicBezTo>
                <a:cubicBezTo>
                  <a:pt x="965" y="681"/>
                  <a:pt x="965" y="655"/>
                  <a:pt x="949" y="639"/>
                </a:cubicBezTo>
                <a:cubicBezTo>
                  <a:pt x="933" y="623"/>
                  <a:pt x="907" y="623"/>
                  <a:pt x="891" y="639"/>
                </a:cubicBezTo>
                <a:close/>
                <a:moveTo>
                  <a:pt x="987" y="1525"/>
                </a:moveTo>
                <a:cubicBezTo>
                  <a:pt x="987" y="1525"/>
                  <a:pt x="987" y="1525"/>
                  <a:pt x="987" y="1525"/>
                </a:cubicBezTo>
                <a:cubicBezTo>
                  <a:pt x="360" y="1525"/>
                  <a:pt x="360" y="1525"/>
                  <a:pt x="360" y="1525"/>
                </a:cubicBezTo>
                <a:cubicBezTo>
                  <a:pt x="337" y="1525"/>
                  <a:pt x="318" y="1544"/>
                  <a:pt x="318" y="1566"/>
                </a:cubicBezTo>
                <a:cubicBezTo>
                  <a:pt x="318" y="1589"/>
                  <a:pt x="337" y="1607"/>
                  <a:pt x="360" y="1607"/>
                </a:cubicBezTo>
                <a:cubicBezTo>
                  <a:pt x="987" y="1607"/>
                  <a:pt x="987" y="1607"/>
                  <a:pt x="987" y="1607"/>
                </a:cubicBezTo>
                <a:cubicBezTo>
                  <a:pt x="1009" y="1607"/>
                  <a:pt x="1027" y="1589"/>
                  <a:pt x="1027" y="1566"/>
                </a:cubicBezTo>
                <a:cubicBezTo>
                  <a:pt x="1027" y="1544"/>
                  <a:pt x="1009" y="1525"/>
                  <a:pt x="987" y="1525"/>
                </a:cubicBezTo>
                <a:close/>
                <a:moveTo>
                  <a:pt x="1347" y="674"/>
                </a:moveTo>
                <a:cubicBezTo>
                  <a:pt x="1347" y="674"/>
                  <a:pt x="1347" y="674"/>
                  <a:pt x="1347" y="674"/>
                </a:cubicBezTo>
                <a:cubicBezTo>
                  <a:pt x="1347" y="488"/>
                  <a:pt x="1272" y="320"/>
                  <a:pt x="1149" y="198"/>
                </a:cubicBezTo>
                <a:cubicBezTo>
                  <a:pt x="1027" y="76"/>
                  <a:pt x="859" y="0"/>
                  <a:pt x="673" y="0"/>
                </a:cubicBezTo>
                <a:cubicBezTo>
                  <a:pt x="488" y="0"/>
                  <a:pt x="318" y="76"/>
                  <a:pt x="197" y="198"/>
                </a:cubicBezTo>
                <a:cubicBezTo>
                  <a:pt x="75" y="320"/>
                  <a:pt x="0" y="488"/>
                  <a:pt x="0" y="674"/>
                </a:cubicBezTo>
                <a:cubicBezTo>
                  <a:pt x="0" y="794"/>
                  <a:pt x="31" y="907"/>
                  <a:pt x="86" y="1005"/>
                </a:cubicBezTo>
                <a:cubicBezTo>
                  <a:pt x="138" y="1094"/>
                  <a:pt x="207" y="1171"/>
                  <a:pt x="292" y="1229"/>
                </a:cubicBezTo>
                <a:cubicBezTo>
                  <a:pt x="292" y="1418"/>
                  <a:pt x="292" y="1418"/>
                  <a:pt x="292" y="1418"/>
                </a:cubicBezTo>
                <a:cubicBezTo>
                  <a:pt x="292" y="1456"/>
                  <a:pt x="322" y="1487"/>
                  <a:pt x="360" y="1487"/>
                </a:cubicBezTo>
                <a:cubicBezTo>
                  <a:pt x="987" y="1487"/>
                  <a:pt x="987" y="1487"/>
                  <a:pt x="987" y="1487"/>
                </a:cubicBezTo>
                <a:cubicBezTo>
                  <a:pt x="1025" y="1487"/>
                  <a:pt x="1055" y="1456"/>
                  <a:pt x="1055" y="1418"/>
                </a:cubicBezTo>
                <a:cubicBezTo>
                  <a:pt x="1055" y="1229"/>
                  <a:pt x="1055" y="1229"/>
                  <a:pt x="1055" y="1229"/>
                </a:cubicBezTo>
                <a:cubicBezTo>
                  <a:pt x="1140" y="1171"/>
                  <a:pt x="1210" y="1094"/>
                  <a:pt x="1260" y="1005"/>
                </a:cubicBezTo>
                <a:cubicBezTo>
                  <a:pt x="1316" y="906"/>
                  <a:pt x="1347" y="794"/>
                  <a:pt x="1347" y="674"/>
                </a:cubicBezTo>
                <a:close/>
                <a:moveTo>
                  <a:pt x="1142" y="938"/>
                </a:moveTo>
                <a:cubicBezTo>
                  <a:pt x="1142" y="938"/>
                  <a:pt x="1142" y="938"/>
                  <a:pt x="1142" y="938"/>
                </a:cubicBezTo>
                <a:cubicBezTo>
                  <a:pt x="1141" y="938"/>
                  <a:pt x="1141" y="938"/>
                  <a:pt x="1141" y="938"/>
                </a:cubicBezTo>
                <a:cubicBezTo>
                  <a:pt x="1096" y="1019"/>
                  <a:pt x="1030" y="1087"/>
                  <a:pt x="951" y="1135"/>
                </a:cubicBezTo>
                <a:cubicBezTo>
                  <a:pt x="931" y="1147"/>
                  <a:pt x="919" y="1170"/>
                  <a:pt x="919" y="1193"/>
                </a:cubicBezTo>
                <a:cubicBezTo>
                  <a:pt x="918" y="1193"/>
                  <a:pt x="918" y="1193"/>
                  <a:pt x="918" y="1193"/>
                </a:cubicBezTo>
                <a:cubicBezTo>
                  <a:pt x="918" y="1350"/>
                  <a:pt x="918" y="1350"/>
                  <a:pt x="918" y="1350"/>
                </a:cubicBezTo>
                <a:cubicBezTo>
                  <a:pt x="429" y="1350"/>
                  <a:pt x="429" y="1350"/>
                  <a:pt x="429" y="1350"/>
                </a:cubicBezTo>
                <a:cubicBezTo>
                  <a:pt x="429" y="1193"/>
                  <a:pt x="429" y="1193"/>
                  <a:pt x="429" y="1193"/>
                </a:cubicBezTo>
                <a:cubicBezTo>
                  <a:pt x="429" y="1165"/>
                  <a:pt x="413" y="1142"/>
                  <a:pt x="389" y="1132"/>
                </a:cubicBezTo>
                <a:cubicBezTo>
                  <a:pt x="313" y="1083"/>
                  <a:pt x="249" y="1017"/>
                  <a:pt x="205" y="938"/>
                </a:cubicBezTo>
                <a:cubicBezTo>
                  <a:pt x="161" y="860"/>
                  <a:pt x="136" y="770"/>
                  <a:pt x="136" y="674"/>
                </a:cubicBezTo>
                <a:cubicBezTo>
                  <a:pt x="136" y="527"/>
                  <a:pt x="197" y="392"/>
                  <a:pt x="294" y="295"/>
                </a:cubicBezTo>
                <a:cubicBezTo>
                  <a:pt x="390" y="197"/>
                  <a:pt x="526" y="137"/>
                  <a:pt x="673" y="137"/>
                </a:cubicBezTo>
                <a:cubicBezTo>
                  <a:pt x="821" y="137"/>
                  <a:pt x="956" y="197"/>
                  <a:pt x="1053" y="295"/>
                </a:cubicBezTo>
                <a:cubicBezTo>
                  <a:pt x="1150" y="392"/>
                  <a:pt x="1210" y="527"/>
                  <a:pt x="1210" y="674"/>
                </a:cubicBezTo>
                <a:cubicBezTo>
                  <a:pt x="1210" y="771"/>
                  <a:pt x="1186" y="861"/>
                  <a:pt x="1142" y="938"/>
                </a:cubicBezTo>
                <a:close/>
                <a:moveTo>
                  <a:pt x="855" y="1668"/>
                </a:moveTo>
                <a:cubicBezTo>
                  <a:pt x="855" y="1668"/>
                  <a:pt x="855" y="1668"/>
                  <a:pt x="855" y="1668"/>
                </a:cubicBezTo>
                <a:cubicBezTo>
                  <a:pt x="492" y="1668"/>
                  <a:pt x="492" y="1668"/>
                  <a:pt x="492" y="1668"/>
                </a:cubicBezTo>
                <a:cubicBezTo>
                  <a:pt x="469" y="1668"/>
                  <a:pt x="450" y="1686"/>
                  <a:pt x="450" y="1709"/>
                </a:cubicBezTo>
                <a:cubicBezTo>
                  <a:pt x="450" y="1731"/>
                  <a:pt x="469" y="1750"/>
                  <a:pt x="492" y="1750"/>
                </a:cubicBezTo>
                <a:cubicBezTo>
                  <a:pt x="855" y="1750"/>
                  <a:pt x="855" y="1750"/>
                  <a:pt x="855" y="1750"/>
                </a:cubicBezTo>
                <a:cubicBezTo>
                  <a:pt x="877" y="1750"/>
                  <a:pt x="896" y="1731"/>
                  <a:pt x="896" y="1709"/>
                </a:cubicBezTo>
                <a:cubicBezTo>
                  <a:pt x="896" y="1686"/>
                  <a:pt x="877" y="1668"/>
                  <a:pt x="855" y="166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TextBox 21"/>
          <p:cNvSpPr txBox="1"/>
          <p:nvPr/>
        </p:nvSpPr>
        <p:spPr>
          <a:xfrm>
            <a:off x="-14605" y="2016760"/>
            <a:ext cx="91751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Simultaneous Ingroup and Outgroup Favoritism in Implicit Social Cognition</a:t>
            </a:r>
            <a:endParaRPr lang="en-US" altLang="zh-CN" sz="36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0" y="3233564"/>
            <a:ext cx="9144000" cy="54006"/>
            <a:chOff x="2190216" y="0"/>
            <a:chExt cx="7128792" cy="108012"/>
          </a:xfrm>
        </p:grpSpPr>
        <p:sp>
          <p:nvSpPr>
            <p:cNvPr id="11" name="矩形 10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190943" y="1419225"/>
            <a:ext cx="676402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3600" i="0" dirty="0">
                <a:ln w="6350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计算可复现性检验</a:t>
            </a:r>
            <a:endParaRPr lang="zh-CN" altLang="en-US" sz="3600" i="0" dirty="0">
              <a:ln w="6350">
                <a:noFill/>
              </a:ln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auto">
          <a:xfrm>
            <a:off x="-22860" y="4660265"/>
            <a:ext cx="916749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dirty="0">
                <a:solidFill>
                  <a:schemeClr val="tx1"/>
                </a:solidFill>
                <a:sym typeface="+mn-ea"/>
              </a:rPr>
              <a:t>Axt, J. R., Moran, T., &amp; Bar-Anan, Y. (2018). Simultaneous ingroup and outgroup favoritism in implicit social cognition. </a:t>
            </a:r>
            <a:r>
              <a:rPr lang="en-US" altLang="zh-CN" sz="1200" i="1" dirty="0">
                <a:solidFill>
                  <a:schemeClr val="tx1"/>
                </a:solidFill>
                <a:sym typeface="+mn-ea"/>
              </a:rPr>
              <a:t>Journal of Experimental Social Psychology,</a:t>
            </a:r>
            <a:r>
              <a:rPr lang="en-US" altLang="zh-CN" sz="1200" dirty="0">
                <a:solidFill>
                  <a:schemeClr val="tx1"/>
                </a:solidFill>
                <a:sym typeface="+mn-ea"/>
              </a:rPr>
              <a:t> 79, 275–289.</a:t>
            </a:r>
            <a:endParaRPr lang="en-US" altLang="zh-CN"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1223" y="3364865"/>
            <a:ext cx="73634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一项关于内隐社会认知中同时出现的内群体与外群体偏好的研究</a:t>
            </a:r>
            <a:endParaRPr lang="zh-CN" altLang="en-US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3294112" y="112534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195195" y="424815"/>
            <a:ext cx="4739640" cy="465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6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lang="zh-CN" altLang="en-US" sz="1600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40815" y="1289685"/>
            <a:ext cx="9977120" cy="3900805"/>
          </a:xfrm>
          <a:prstGeom prst="rect">
            <a:avLst/>
          </a:prstGeom>
        </p:spPr>
        <p:txBody>
          <a:bodyPr wrap="square">
            <a:noAutofit/>
          </a:bodyPr>
          <a:p>
            <a:pPr marL="876300" indent="-742950" algn="l" fontAlgn="auto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Font typeface="+mj-ea"/>
              <a:buAutoNum type="circleNumDbPlain"/>
            </a:pPr>
            <a:r>
              <a:rPr lang="en-US" altLang="zh-CN" sz="3600" b="0" i="0" dirty="0">
                <a:solidFill>
                  <a:schemeClr val="accent1"/>
                </a:solidFill>
              </a:rPr>
              <a:t> </a:t>
            </a:r>
            <a:r>
              <a:rPr lang="zh-CN" altLang="en-US" sz="3600" b="0" i="0" dirty="0">
                <a:solidFill>
                  <a:schemeClr val="tx1"/>
                </a:solidFill>
              </a:rPr>
              <a:t>研究背景与核心问题</a:t>
            </a:r>
            <a:endParaRPr lang="zh-CN" altLang="en-US" sz="3600" b="0" i="0" dirty="0">
              <a:solidFill>
                <a:schemeClr val="tx1"/>
              </a:solidFill>
            </a:endParaRPr>
          </a:p>
          <a:p>
            <a:pPr marL="876300" indent="-742950" algn="l" fontAlgn="auto">
              <a:lnSpc>
                <a:spcPct val="100000"/>
              </a:lnSpc>
              <a:spcAft>
                <a:spcPts val="500"/>
              </a:spcAft>
              <a:buClrTx/>
              <a:buSzTx/>
              <a:buFont typeface="+mj-ea"/>
              <a:buAutoNum type="circleNumDbPlain"/>
            </a:pPr>
            <a:r>
              <a:rPr lang="en-US" altLang="zh-CN" sz="3600" b="0" i="0" dirty="0">
                <a:solidFill>
                  <a:schemeClr val="accent1"/>
                </a:solidFill>
              </a:rPr>
              <a:t> </a:t>
            </a:r>
            <a:r>
              <a:rPr lang="zh-CN" altLang="en-US" sz="3600" b="0" i="0" dirty="0"/>
              <a:t>复现目标与方法</a:t>
            </a:r>
            <a:endParaRPr lang="zh-CN" altLang="en-US" sz="3600" b="0" i="0" dirty="0"/>
          </a:p>
          <a:p>
            <a:pPr marL="876300" indent="-742950" algn="l" fontAlgn="auto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Font typeface="+mj-ea"/>
              <a:buAutoNum type="circleNumDbPlain"/>
            </a:pPr>
            <a:r>
              <a:rPr lang="en-US" altLang="zh-CN" sz="3600" b="0" i="0" dirty="0">
                <a:solidFill>
                  <a:schemeClr val="accent1"/>
                </a:solidFill>
              </a:rPr>
              <a:t> </a:t>
            </a:r>
            <a:r>
              <a:rPr lang="zh-CN" altLang="en-US" sz="3600" b="0" i="0" dirty="0">
                <a:latin typeface="Times New Roman" panose="02020603050405020304" charset="0"/>
                <a:cs typeface="Times New Roman" panose="02020603050405020304" charset="0"/>
              </a:rPr>
              <a:t>Study 1</a:t>
            </a:r>
            <a:r>
              <a:rPr lang="en-US" altLang="zh-CN" sz="3600" b="0" i="0" dirty="0">
                <a:latin typeface="Times New Roman" panose="02020603050405020304" charset="0"/>
                <a:cs typeface="Times New Roman" panose="02020603050405020304" charset="0"/>
              </a:rPr>
              <a:t>-5</a:t>
            </a:r>
            <a:endParaRPr lang="en-US" altLang="zh-CN" sz="3600" b="0" i="0" dirty="0">
              <a:solidFill>
                <a:schemeClr val="accent1"/>
              </a:solidFill>
            </a:endParaRPr>
          </a:p>
          <a:p>
            <a:pPr marL="876300" indent="-742950" algn="l" fontAlgn="auto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Font typeface="+mj-ea"/>
              <a:buAutoNum type="circleNumDbPlain"/>
            </a:pPr>
            <a:r>
              <a:rPr lang="en-US" altLang="zh-CN" sz="3200" b="0" i="0" dirty="0">
                <a:solidFill>
                  <a:schemeClr val="accent1"/>
                </a:solidFill>
              </a:rPr>
              <a:t> </a:t>
            </a:r>
            <a:r>
              <a:rPr lang="zh-CN" altLang="en-US" sz="3600" b="0" i="0" dirty="0"/>
              <a:t>遇到的问题与解决方案</a:t>
            </a:r>
            <a:endParaRPr lang="zh-CN" altLang="en-US" sz="3600" b="0" i="0" dirty="0"/>
          </a:p>
          <a:p>
            <a:pPr marL="876300" indent="-742950" algn="l" fontAlgn="auto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Font typeface="+mj-ea"/>
              <a:buAutoNum type="circleNumDbPlain"/>
            </a:pPr>
            <a:r>
              <a:rPr lang="en-US" altLang="zh-CN" sz="3600" dirty="0">
                <a:solidFill>
                  <a:schemeClr val="accent1"/>
                </a:solidFill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可能影响复现的因素</a:t>
            </a:r>
            <a:endParaRPr lang="zh-CN" altLang="en-US" sz="32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76300" indent="-742950" algn="l" fontAlgn="auto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Font typeface="+mj-ea"/>
              <a:buAutoNum type="circleNumDbPlain"/>
            </a:pPr>
            <a:endParaRPr lang="zh-CN" altLang="en-US" sz="3200" b="0" i="0" dirty="0">
              <a:solidFill>
                <a:schemeClr val="accent1"/>
              </a:solidFill>
            </a:endParaRPr>
          </a:p>
          <a:p>
            <a:pPr marL="876300" indent="-742950" algn="l" fontAlgn="auto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Font typeface="+mj-ea"/>
              <a:buAutoNum type="circleNumDbPlain"/>
            </a:pPr>
            <a:endParaRPr lang="zh-CN" altLang="en-US" sz="3200" b="0" i="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-24130" y="4316095"/>
            <a:ext cx="9168765" cy="821690"/>
          </a:xfrm>
          <a:prstGeom prst="rect">
            <a:avLst/>
          </a:prstGeom>
          <a:solidFill>
            <a:schemeClr val="accent1"/>
          </a:solidFill>
        </p:spPr>
        <p:txBody>
          <a:bodyPr wrap="square" lIns="360045" tIns="360045" rIns="360045" bIns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indent="0" algn="ctr" fontAlgn="auto">
              <a:spcBef>
                <a:spcPts val="2400"/>
              </a:spcBef>
              <a:spcAft>
                <a:spcPts val="2400"/>
              </a:spcAft>
            </a:pPr>
            <a:r>
              <a:rPr lang="zh-CN" altLang="en-US" sz="24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积极关联反映社会认同；消极关联反映文化学习/系统合理化</a:t>
            </a:r>
            <a:endParaRPr lang="zh-CN" altLang="en-US" sz="2400" b="1" i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3294112" y="55130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142808" y="-5715"/>
            <a:ext cx="4739640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研究背景与核心问题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endParaRPr lang="zh-CN" altLang="en-US" sz="1600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7810" y="1768475"/>
            <a:ext cx="5080000" cy="388620"/>
          </a:xfrm>
          <a:prstGeom prst="rect">
            <a:avLst/>
          </a:prstGeom>
        </p:spPr>
        <p:txBody>
          <a:bodyPr>
            <a:noAutofit/>
          </a:bodyPr>
          <a:p>
            <a:pPr marL="0" indent="0" algn="ctr" fontAlgn="ctr">
              <a:spcBef>
                <a:spcPct val="0"/>
              </a:spcBef>
              <a:spcAft>
                <a:spcPts val="300"/>
              </a:spcAft>
            </a:pPr>
            <a:r>
              <a:rPr lang="zh-CN" altLang="en-US" sz="2000" b="0" i="0">
                <a:solidFill>
                  <a:srgbClr val="1D69A3"/>
                </a:solidFill>
                <a:latin typeface="Montserrat"/>
                <a:ea typeface="Montserrat"/>
              </a:rPr>
              <a:t>💬</a:t>
            </a:r>
            <a:r>
              <a:rPr lang="en-US" altLang="zh-CN" sz="1600" b="0" i="0">
                <a:solidFill>
                  <a:srgbClr val="1D69A3"/>
                </a:solidFill>
                <a:latin typeface="Montserrat"/>
                <a:ea typeface="Montserrat"/>
              </a:rPr>
              <a:t> </a:t>
            </a:r>
            <a:r>
              <a:rPr lang="zh-CN" altLang="en-US" sz="2400" b="0" i="0">
                <a:solidFill>
                  <a:srgbClr val="1D69A3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核心发现</a:t>
            </a:r>
            <a:endParaRPr lang="zh-CN" altLang="en-US" sz="2400" b="0" i="0">
              <a:solidFill>
                <a:srgbClr val="1D69A3"/>
              </a:solidFill>
              <a:latin typeface="Calibri" panose="020F0502020204030204" charset="0"/>
              <a:ea typeface="Montserrat"/>
              <a:cs typeface="Calibri" panose="020F05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" y="770890"/>
            <a:ext cx="9144635" cy="9836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采用多类别内隐联想测验范式，区分两种测量条件，考察了不同社会群体的内隐态度。</a:t>
            </a:r>
            <a:endParaRPr lang="zh-CN" altLang="en-US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ctr"/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Good-focal BIAT（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积极焦点）：</a:t>
            </a:r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键 = </a:t>
            </a:r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Good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词 + 目标群体；</a:t>
            </a:r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键 = 其他</a:t>
            </a:r>
            <a:endParaRPr lang="en-US" altLang="zh-CN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ctr"/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Bad-focal BIAT（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消极焦点）：</a:t>
            </a:r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键 = </a:t>
            </a:r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词 + 目标群体；</a:t>
            </a:r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键 = 其他</a:t>
            </a:r>
            <a:endParaRPr lang="zh-CN" altLang="en-US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-1116330" y="427196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fontAlgn="ctr">
              <a:spcBef>
                <a:spcPct val="0"/>
              </a:spcBef>
              <a:spcAft>
                <a:spcPts val="300"/>
              </a:spcAft>
            </a:pPr>
            <a:r>
              <a:rPr lang="zh-CN" altLang="en-US" sz="1600" b="0" i="0">
                <a:solidFill>
                  <a:srgbClr val="F5736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🔬</a:t>
            </a:r>
            <a:r>
              <a:rPr lang="en-US" altLang="zh-CN" sz="2400" b="0" i="0">
                <a:solidFill>
                  <a:srgbClr val="F5736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zh-CN" altLang="en-US" sz="2400" b="0" i="0">
                <a:solidFill>
                  <a:srgbClr val="F5736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理论解释：</a:t>
            </a:r>
            <a:endParaRPr lang="zh-CN" altLang="en-US" sz="2400" b="0" i="0">
              <a:solidFill>
                <a:srgbClr val="F5736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35560" y="2282190"/>
            <a:ext cx="550862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2000" b="0" i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🔵 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非优势群体（黑人、犹太人、同性恋者）：</a:t>
            </a:r>
            <a:endParaRPr lang="en-US" altLang="zh-CN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l"/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Good-focal → 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内群体偏好</a:t>
            </a:r>
            <a:endParaRPr lang="en-US" altLang="zh-CN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l"/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Bad-focal → 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外群体偏好（或偏好减弱）</a:t>
            </a:r>
            <a:endParaRPr lang="zh-CN" altLang="en-US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ctr"/>
            <a:endParaRPr lang="zh-CN" altLang="en-US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l"/>
            <a:r>
              <a:rPr lang="zh-CN" altLang="en-US" sz="2000" b="0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🔴 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优势群体（白人、基督徒、异性恋者）：</a:t>
            </a:r>
            <a:endParaRPr lang="en-US" altLang="zh-CN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l"/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Good-focal 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和 </a:t>
            </a:r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Bad-focal → 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均表现为内群体偏好</a:t>
            </a:r>
            <a:endParaRPr lang="zh-CN" altLang="en-US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600" y="2355850"/>
            <a:ext cx="3783965" cy="1763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3294112" y="55130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39825" y="-5715"/>
            <a:ext cx="6958965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复现目标与方法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6220" y="629920"/>
            <a:ext cx="8593455" cy="38862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spcBef>
                <a:spcPts val="1000"/>
              </a:spcBef>
              <a:spcAft>
                <a:spcPts val="1000"/>
              </a:spcAft>
              <a:buFont typeface="Wingdings" panose="05000000000000000000" charset="0"/>
              <a:buChar char="l"/>
            </a:pPr>
            <a:r>
              <a:rPr lang="zh-CN" altLang="en-US" sz="2100" b="1" i="0">
                <a:solidFill>
                  <a:srgbClr val="2C3E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复现范围：</a:t>
            </a:r>
            <a:r>
              <a:rPr lang="zh-CN" altLang="en-US" sz="2100" b="0" i="0">
                <a:solidFill>
                  <a:srgbClr val="2C3E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5个研究（种族、宗教、性取向、文化感知、跨文化比较）</a:t>
            </a:r>
            <a:endParaRPr lang="zh-CN" altLang="en-US" sz="2100" b="1" i="0">
              <a:solidFill>
                <a:srgbClr val="2C3E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6220" y="3215005"/>
            <a:ext cx="4213225" cy="41402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100" b="1" i="0">
                <a:solidFill>
                  <a:srgbClr val="2C3E50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分析流程</a:t>
            </a:r>
            <a:endParaRPr lang="zh-CN" altLang="en-US" sz="2100" b="0" i="0">
              <a:solidFill>
                <a:srgbClr val="2C3E50"/>
              </a:solidFill>
              <a:latin typeface="宋体" panose="02010600030101010101" pitchFamily="2" charset="-122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7405" y="52070"/>
            <a:ext cx="2221230" cy="16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86815" y="3639820"/>
            <a:ext cx="1424940" cy="64516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marL="0" indent="0" algn="ctr"/>
            <a:r>
              <a:rPr lang="zh-CN" altLang="en-US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Calibri" panose="020F0502020204030204" charset="0"/>
              </a:rPr>
              <a:t>按原文标准筛选数据</a:t>
            </a:r>
            <a:endParaRPr lang="zh-CN" altLang="en-US" b="1" i="0">
              <a:solidFill>
                <a:schemeClr val="accent1"/>
              </a:solidFill>
              <a:latin typeface="Times New Roman" panose="020206030504050203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17970" y="4441825"/>
            <a:ext cx="1424940" cy="64516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p>
            <a:pPr marL="0" indent="0" algn="ctr"/>
            <a:r>
              <a:rPr lang="zh-CN" altLang="en-US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Calibri" panose="020F0502020204030204" charset="0"/>
              </a:rPr>
              <a:t>可视化</a:t>
            </a:r>
            <a:endParaRPr lang="zh-CN" altLang="en-US" b="1" i="0">
              <a:solidFill>
                <a:schemeClr val="accent1"/>
              </a:solidFill>
              <a:latin typeface="Times New Roman" panose="020206030504050203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52545" y="4441825"/>
            <a:ext cx="1424940" cy="64516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marL="0" indent="0" algn="ctr"/>
            <a:r>
              <a:rPr lang="en-US" altLang="zh-CN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Bayesian </a:t>
            </a:r>
            <a:r>
              <a:rPr lang="zh-CN" altLang="en-US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检验（</a:t>
            </a:r>
            <a:r>
              <a:rPr lang="en-US" altLang="zh-CN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BF10）</a:t>
            </a:r>
            <a:endParaRPr lang="en-US" altLang="zh-CN" b="1" i="0">
              <a:solidFill>
                <a:schemeClr val="accent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96620" y="4441825"/>
            <a:ext cx="2120265" cy="64516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marL="0" indent="0" algn="ctr"/>
            <a:r>
              <a:rPr lang="en-US" altLang="zh-CN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Frequentist </a:t>
            </a:r>
            <a:r>
              <a:rPr lang="zh-CN" altLang="en-US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检验（</a:t>
            </a:r>
            <a:r>
              <a:rPr lang="en-US" altLang="zh-CN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lang="zh-CN" altLang="en-US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检验, </a:t>
            </a:r>
            <a:r>
              <a:rPr lang="en-US" altLang="zh-CN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Cohen's d）</a:t>
            </a:r>
            <a:endParaRPr lang="en-US" altLang="zh-CN" b="1" i="0">
              <a:solidFill>
                <a:schemeClr val="accent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45250" y="3639820"/>
            <a:ext cx="1770380" cy="64516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marL="0" indent="0" algn="ctr"/>
            <a:r>
              <a:rPr lang="zh-CN" altLang="en-US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与原文比较百分误差（</a:t>
            </a:r>
            <a:r>
              <a:rPr lang="en-US" altLang="zh-CN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PE）</a:t>
            </a:r>
            <a:endParaRPr lang="en-US" altLang="zh-CN" b="1" i="0">
              <a:solidFill>
                <a:schemeClr val="accent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44278" y="3639820"/>
            <a:ext cx="1641475" cy="64516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marL="0" indent="0" algn="ctr"/>
            <a:r>
              <a:rPr lang="zh-CN" altLang="en-US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计算描述统计（</a:t>
            </a:r>
            <a:r>
              <a:rPr lang="en-US" altLang="zh-CN" b="1" i="0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N, M, SD）</a:t>
            </a:r>
            <a:endParaRPr lang="en-US" altLang="zh-CN" b="1" i="0">
              <a:solidFill>
                <a:schemeClr val="accent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27" name="表格 26"/>
          <p:cNvGraphicFramePr/>
          <p:nvPr/>
        </p:nvGraphicFramePr>
        <p:xfrm>
          <a:off x="641350" y="1095375"/>
          <a:ext cx="7861300" cy="1965960"/>
        </p:xfrm>
        <a:graphic>
          <a:graphicData uri="http://schemas.openxmlformats.org/drawingml/2006/table">
            <a:tbl>
              <a:tblPr/>
              <a:tblGrid>
                <a:gridCol w="969010"/>
                <a:gridCol w="1066800"/>
                <a:gridCol w="1189355"/>
                <a:gridCol w="3805555"/>
                <a:gridCol w="830580"/>
              </a:tblGrid>
              <a:tr h="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研究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主题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设计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关键群体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原文 N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1D69A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Study 1</a:t>
                      </a:r>
                      <a:endParaRPr lang="en-US" altLang="zh-CN" sz="1800" b="1" i="0">
                        <a:solidFill>
                          <a:srgbClr val="1D69A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种族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独立组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Black 被试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1607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1D69A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Study 2</a:t>
                      </a:r>
                      <a:endParaRPr lang="en-US" altLang="zh-CN" sz="1800" b="1" i="0">
                        <a:solidFill>
                          <a:srgbClr val="1D69A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宗教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独立组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Jewish / Hindu / Muslim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420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1D69A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Study 3</a:t>
                      </a:r>
                      <a:endParaRPr lang="en-US" altLang="zh-CN" sz="1800" b="1" i="0">
                        <a:solidFill>
                          <a:srgbClr val="1D69A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性取向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配对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Gay / Straight / Other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887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1D69A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Study 4</a:t>
                      </a:r>
                      <a:endParaRPr lang="en-US" altLang="zh-CN" sz="1800" b="1" i="0">
                        <a:solidFill>
                          <a:srgbClr val="1D69A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文化感知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配对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Asian / Black / Hispanic / White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1347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1D69A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Study 5</a:t>
                      </a:r>
                      <a:endParaRPr lang="en-US" altLang="zh-CN" sz="1800" b="1" i="0">
                        <a:solidFill>
                          <a:srgbClr val="1D69A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跨文化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配对+独立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 / IS 犹太人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198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3294112" y="55130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45110" y="-5715"/>
            <a:ext cx="8604250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Study 1 · </a:t>
            </a:r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种族（</a:t>
            </a:r>
            <a:r>
              <a:rPr lang="en-US" altLang="zh-CN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Black </a:t>
            </a:r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被试）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" y="3211830"/>
            <a:ext cx="4945380" cy="1058545"/>
          </a:xfrm>
          <a:prstGeom prst="rect">
            <a:avLst/>
          </a:prstGeom>
          <a:ln w="12700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</p:pic>
      <p:sp>
        <p:nvSpPr>
          <p:cNvPr id="11" name="文本框 10"/>
          <p:cNvSpPr txBox="1"/>
          <p:nvPr/>
        </p:nvSpPr>
        <p:spPr>
          <a:xfrm>
            <a:off x="609600" y="916940"/>
            <a:ext cx="3994785" cy="219964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p>
            <a:pPr marL="0" indent="0" algn="ctr"/>
            <a:r>
              <a:rPr lang="zh-CN" altLang="en-US" sz="21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💬</a:t>
            </a:r>
            <a:r>
              <a:rPr lang="en-US" altLang="zh-CN" sz="21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 </a:t>
            </a:r>
            <a:r>
              <a:rPr lang="zh-CN" altLang="en-US" sz="2100" b="1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推断统计：</a:t>
            </a:r>
            <a:endParaRPr lang="zh-CN" altLang="en-US" sz="2100" b="1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0" indent="0" algn="ctr"/>
            <a:endParaRPr lang="zh-CN" altLang="en-US" sz="1600" b="1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0" indent="0" algn="ctr"/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独立 t = 8.98 (原文 9.01)</a:t>
            </a:r>
            <a:endParaRPr lang="zh-CN" altLang="en-US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ctr"/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Cohen's d = 0.45</a:t>
            </a:r>
            <a:endParaRPr lang="zh-CN" altLang="en-US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ctr"/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Good 单样本 t = -5.79</a:t>
            </a:r>
            <a:endParaRPr lang="zh-CN" altLang="en-US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ctr"/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 单样本 t = 6.86</a:t>
            </a:r>
            <a:endParaRPr lang="zh-CN" altLang="en-US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ctr"/>
            <a:r>
              <a:rPr lang="en-US" altLang="zh-CN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BF10 ≈ 6.5e15</a:t>
            </a:r>
            <a:r>
              <a:rPr lang="zh-CN" altLang="en-US" sz="20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，支持备择假设</a:t>
            </a:r>
            <a:endParaRPr lang="zh-CN" altLang="en-US" sz="20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24130" y="4316095"/>
            <a:ext cx="9168765" cy="821690"/>
          </a:xfrm>
          <a:prstGeom prst="rect">
            <a:avLst/>
          </a:prstGeom>
          <a:solidFill>
            <a:schemeClr val="accent1"/>
          </a:solidFill>
        </p:spPr>
        <p:txBody>
          <a:bodyPr wrap="square" lIns="360045" tIns="71755" rIns="360045" bIns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indent="0" algn="ctr" fontAlgn="auto">
              <a:spcBef>
                <a:spcPts val="2400"/>
              </a:spcBef>
              <a:spcAft>
                <a:spcPts val="2400"/>
              </a:spcAft>
            </a:pPr>
            <a:r>
              <a:rPr lang="zh-CN" altLang="en-US" sz="24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结论：</a:t>
            </a:r>
            <a:r>
              <a:rPr lang="en-US" altLang="zh-CN" sz="24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Black </a:t>
            </a:r>
            <a:r>
              <a:rPr lang="zh-CN" altLang="en-US" sz="24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被试在 </a:t>
            </a:r>
            <a:r>
              <a:rPr lang="en-US" altLang="zh-CN" sz="24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Good </a:t>
            </a:r>
            <a:r>
              <a:rPr lang="zh-CN" altLang="en-US" sz="24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条件下偏好内群，</a:t>
            </a:r>
            <a:r>
              <a:rPr lang="en-US" altLang="zh-CN" sz="24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 </a:t>
            </a:r>
            <a:r>
              <a:rPr lang="zh-CN" altLang="en-US" sz="24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条件下偏好外群，与原文一致。</a:t>
            </a:r>
            <a:endParaRPr lang="zh-CN" altLang="en-US" sz="2400" b="1" i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algn="ctr" fontAlgn="auto">
              <a:spcBef>
                <a:spcPts val="2400"/>
              </a:spcBef>
              <a:spcAft>
                <a:spcPts val="2400"/>
              </a:spcAft>
            </a:pPr>
            <a:endParaRPr lang="zh-CN" altLang="en-US" sz="2400" b="1" i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915670"/>
            <a:ext cx="3347720" cy="218757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074285" y="3291205"/>
            <a:ext cx="4147820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蓝色 </a:t>
            </a:r>
            <a:r>
              <a:rPr lang="en-US" altLang="zh-CN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 Good-focal </a:t>
            </a:r>
            <a:r>
              <a:rPr lang="zh-CN" altLang="en-US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条件，红色 </a:t>
            </a:r>
            <a:r>
              <a:rPr lang="en-US" altLang="zh-CN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 Bad-focal </a:t>
            </a:r>
            <a:r>
              <a:rPr lang="zh-CN" altLang="en-US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</a:t>
            </a:r>
            <a:endParaRPr lang="zh-CN" altLang="en-US" sz="1400" b="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红色圆点 </a:t>
            </a:r>
            <a:r>
              <a:rPr lang="en-US" altLang="zh-CN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 </a:t>
            </a:r>
            <a:r>
              <a:rPr lang="zh-CN" altLang="en-US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均值</a:t>
            </a:r>
            <a:endParaRPr lang="zh-CN" altLang="en-US" sz="1400" b="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Good </a:t>
            </a:r>
            <a:r>
              <a:rPr lang="zh-CN" altLang="en-US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条件均值显著为负（内群偏好），</a:t>
            </a:r>
            <a:r>
              <a:rPr lang="en-US" altLang="zh-CN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 </a:t>
            </a:r>
            <a:r>
              <a:rPr lang="zh-CN" altLang="en-US" sz="1400" b="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条件均值显著为正（外群偏好）</a:t>
            </a:r>
            <a:endParaRPr lang="zh-CN" altLang="en-US" sz="1400" b="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3294112" y="55130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45110" y="-5715"/>
            <a:ext cx="8604250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Study 2 · </a:t>
            </a:r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宗教（非基督教群体）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24130" y="4316095"/>
            <a:ext cx="9168765" cy="821690"/>
          </a:xfrm>
          <a:prstGeom prst="rect">
            <a:avLst/>
          </a:prstGeom>
          <a:solidFill>
            <a:schemeClr val="accent1"/>
          </a:solidFill>
        </p:spPr>
        <p:txBody>
          <a:bodyPr wrap="square" lIns="179705" tIns="71755" rIns="179705" bIns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indent="0" algn="ctr" fontAlgn="auto">
              <a:spcBef>
                <a:spcPts val="2400"/>
              </a:spcBef>
              <a:spcAft>
                <a:spcPts val="2400"/>
              </a:spcAft>
            </a:pPr>
            <a:r>
              <a:rPr lang="en-US" altLang="zh-CN" sz="24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 </a:t>
            </a:r>
            <a:r>
              <a:rPr lang="en-US" altLang="zh-CN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Jewish </a:t>
            </a:r>
            <a:r>
              <a:rPr lang="zh-CN" altLang="en-US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和 </a:t>
            </a:r>
            <a:r>
              <a:rPr lang="en-US" altLang="zh-CN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Hindu </a:t>
            </a:r>
            <a:r>
              <a:rPr lang="zh-CN" altLang="en-US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组 </a:t>
            </a:r>
            <a:r>
              <a:rPr lang="en-US" altLang="zh-CN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Bad </a:t>
            </a:r>
            <a:r>
              <a:rPr lang="zh-CN" altLang="en-US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方向不一致：</a:t>
            </a:r>
            <a:r>
              <a:rPr lang="en-US" altLang="zh-CN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Jewish: </a:t>
            </a:r>
            <a:r>
              <a:rPr lang="zh-CN" altLang="en-US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复现 -0.048 </a:t>
            </a:r>
            <a:r>
              <a:rPr lang="en-US" altLang="zh-CN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vs </a:t>
            </a:r>
            <a:r>
              <a:rPr lang="zh-CN" altLang="en-US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原文 +0.05；</a:t>
            </a:r>
            <a:r>
              <a:rPr lang="en-US" altLang="zh-CN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Hindu: </a:t>
            </a:r>
            <a:r>
              <a:rPr lang="zh-CN" altLang="en-US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复现 -0.015 </a:t>
            </a:r>
            <a:r>
              <a:rPr lang="en-US" altLang="zh-CN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vs </a:t>
            </a:r>
            <a:r>
              <a:rPr lang="zh-CN" altLang="en-US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原文 +0.02绝对值均接近零（|</a:t>
            </a:r>
            <a:r>
              <a:rPr lang="en-US" altLang="zh-CN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d| &lt; 0.10），</a:t>
            </a:r>
            <a:r>
              <a:rPr lang="zh-CN" altLang="en-US" sz="2000" b="1" i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anose="020F0502020204030204" charset="0"/>
                <a:ea typeface="Montserrat"/>
                <a:cs typeface="Calibri" panose="020F0502020204030204" charset="0"/>
              </a:rPr>
              <a:t>实质结论不变</a:t>
            </a:r>
            <a:endParaRPr lang="zh-CN" altLang="en-US" sz="2000" b="1" i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alibri" panose="020F0502020204030204" charset="0"/>
              <a:ea typeface="Montserrat"/>
              <a:cs typeface="Calibri" panose="020F0502020204030204" charset="0"/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6"/>
            </p:custDataLst>
          </p:nvPr>
        </p:nvGraphicFramePr>
        <p:xfrm>
          <a:off x="444500" y="678815"/>
          <a:ext cx="8352790" cy="1229995"/>
        </p:xfrm>
        <a:graphic>
          <a:graphicData uri="http://schemas.openxmlformats.org/drawingml/2006/table">
            <a:tbl>
              <a:tblPr/>
              <a:tblGrid>
                <a:gridCol w="2364105"/>
                <a:gridCol w="2205355"/>
                <a:gridCol w="1838325"/>
                <a:gridCol w="1144905"/>
                <a:gridCol w="800100"/>
              </a:tblGrid>
              <a:tr h="32956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群体</a:t>
                      </a:r>
                      <a:endParaRPr lang="zh-CN" altLang="en-US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Good M 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(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复现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/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原文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)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Bad M 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(复现/原文)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独立</a:t>
                      </a: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t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BF10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Jewish</a:t>
                      </a:r>
                      <a:r>
                        <a:rPr lang="zh-CN" altLang="en-US" sz="160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（犹太人）</a:t>
                      </a:r>
                      <a:endParaRPr lang="zh-CN" altLang="en-US" sz="160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-0.28 / -0.28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-0.048 / +0.05*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3.17</a:t>
                      </a:r>
                      <a:endParaRPr lang="zh-CN" altLang="en-US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16.2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Hindu</a:t>
                      </a:r>
                      <a:r>
                        <a:rPr lang="zh-CN" altLang="en-US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（印度人）</a:t>
                      </a:r>
                      <a:endParaRPr lang="zh-CN" altLang="en-US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-0.27 / -0.27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-0.02 / +0.02*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2.20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2.1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Muslim</a:t>
                      </a:r>
                      <a:r>
                        <a:rPr lang="zh-CN" altLang="en-US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（伊斯兰教徒）</a:t>
                      </a:r>
                      <a:endParaRPr lang="zh-CN" altLang="en-US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-0.30 / -0.30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0.07 / 0.07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3.88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184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179705" y="2211705"/>
            <a:ext cx="464375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Jewish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组和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Hindu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组  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条件复现均值与原文符号相反， 但绝对值均接近零（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Cohen’s d ≈ 0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），效应量 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d≈0，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不影响结论。 </a:t>
            </a:r>
            <a:endParaRPr lang="zh-CN" altLang="en-US" sz="16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可能原因：原文在 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条件报告的是条件一致偏差的绝对值，或四舍五入导致符号变化。 此不影响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“Good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内群体，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无偏好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”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的主结论。</a:t>
            </a:r>
            <a:endParaRPr lang="zh-CN" altLang="en-US" sz="16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5905" y="2066290"/>
            <a:ext cx="3281680" cy="2115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>
            <p:custDataLst>
              <p:tags r:id="rId1"/>
            </p:custDataLst>
          </p:nvPr>
        </p:nvSpPr>
        <p:spPr>
          <a:xfrm>
            <a:off x="308610" y="-5715"/>
            <a:ext cx="8604250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Study 3 · </a:t>
            </a:r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性取向（配对设计）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>
            <p:custDataLst>
              <p:tags r:id="rId2"/>
            </p:custDataLst>
          </p:nvPr>
        </p:nvGrpSpPr>
        <p:grpSpPr>
          <a:xfrm>
            <a:off x="3294112" y="55130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3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" name="表格 9"/>
          <p:cNvGraphicFramePr/>
          <p:nvPr/>
        </p:nvGraphicFramePr>
        <p:xfrm>
          <a:off x="692785" y="842645"/>
          <a:ext cx="7827010" cy="1313180"/>
        </p:xfrm>
        <a:graphic>
          <a:graphicData uri="http://schemas.openxmlformats.org/drawingml/2006/table">
            <a:tbl>
              <a:tblPr/>
              <a:tblGrid>
                <a:gridCol w="1037590"/>
                <a:gridCol w="520700"/>
                <a:gridCol w="1781810"/>
                <a:gridCol w="1680845"/>
                <a:gridCol w="2806065"/>
              </a:tblGrid>
              <a:tr h="42164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群体</a:t>
                      </a:r>
                      <a:endParaRPr lang="zh-CN" altLang="en-US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N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Good M 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(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复现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/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原文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)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Bad M 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(复现/原文)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检验结果</a:t>
                      </a:r>
                      <a:endParaRPr lang="zh-CN" altLang="en-US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Gay</a:t>
                      </a:r>
                      <a:endParaRPr lang="en-US" altLang="zh-CN" sz="160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40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-0.24 / -0.24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0.07 / 0.07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配对 </a:t>
                      </a: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t=-4.28</a:t>
                      </a:r>
                      <a:r>
                        <a:rPr lang="zh-CN" altLang="en-US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，</a:t>
                      </a: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d=-0.68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Straight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776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0.31 / 0.31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0.47 / 0.47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配对 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t=</a:t>
                      </a: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-8.38,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d=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-0.30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Other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71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-0.02 / 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-0.02</a:t>
                      </a:r>
                      <a:endParaRPr lang="zh-CN" altLang="en-US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0.22 / 0.22</a:t>
                      </a:r>
                      <a:endParaRPr lang="zh-CN" altLang="en-US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配对 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t=</a:t>
                      </a: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-3.52,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d=-0.42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9050" y="2526030"/>
            <a:ext cx="3342005" cy="213042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755650" y="2716530"/>
            <a:ext cx="3772535" cy="18148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Study 3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考察了不同性取向群体在异性恋 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vs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同性恋 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BIAT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上的内隐偏好。</a:t>
            </a:r>
            <a:endParaRPr lang="zh-CN" altLang="en-US" sz="16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endParaRPr lang="zh-CN" altLang="en-US" sz="16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Gay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被试在 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Good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条件下内群偏好显著，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条件下无显著偏好。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Straight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被试两个条件都显著偏好内群，</a:t>
            </a:r>
            <a:r>
              <a:rPr lang="zh-CN" altLang="en-US" sz="160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与原文一致。</a:t>
            </a:r>
            <a:endParaRPr lang="zh-CN" altLang="en-US" sz="16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endParaRPr lang="zh-CN" altLang="en-US" sz="16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>
            <p:custDataLst>
              <p:tags r:id="rId1"/>
            </p:custDataLst>
          </p:nvPr>
        </p:nvSpPr>
        <p:spPr>
          <a:xfrm>
            <a:off x="308610" y="-5715"/>
            <a:ext cx="8604250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Study 4 · </a:t>
            </a:r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文化感知（6 组比较）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>
            <p:custDataLst>
              <p:tags r:id="rId2"/>
            </p:custDataLst>
          </p:nvPr>
        </p:nvGrpSpPr>
        <p:grpSpPr>
          <a:xfrm>
            <a:off x="3294112" y="55130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3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1" name="表格 10"/>
          <p:cNvGraphicFramePr/>
          <p:nvPr/>
        </p:nvGraphicFramePr>
        <p:xfrm>
          <a:off x="697230" y="700405"/>
          <a:ext cx="7827010" cy="2278380"/>
        </p:xfrm>
        <a:graphic>
          <a:graphicData uri="http://schemas.openxmlformats.org/drawingml/2006/table">
            <a:tbl>
              <a:tblPr/>
              <a:tblGrid>
                <a:gridCol w="1565275"/>
                <a:gridCol w="515620"/>
                <a:gridCol w="1788160"/>
                <a:gridCol w="2392680"/>
                <a:gridCol w="1565275"/>
              </a:tblGrid>
              <a:tr h="480695">
                <a:tc>
                  <a:txBody>
                    <a:bodyPr/>
                    <a:p>
                      <a:pPr algn="l"/>
                      <a:r>
                        <a:rPr lang="zh-CN" altLang="en-US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群体</a:t>
                      </a:r>
                      <a:endParaRPr lang="zh-CN" altLang="en-US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Good M 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(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复现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/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原文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)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Bad M 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(复现/原文)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检验结果</a:t>
                      </a:r>
                      <a:endParaRPr lang="zh-CN" altLang="en-US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algn="l"/>
                      <a:r>
                        <a:rPr lang="en-US" altLang="zh-CN" sz="1600" b="1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Asian</a:t>
                      </a:r>
                      <a:endParaRPr lang="en-US" altLang="zh-CN" sz="1600" b="1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113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-0.13 / 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-0.13</a:t>
                      </a:r>
                      <a:endParaRPr lang="zh-CN" altLang="en-US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0.20 / 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0.20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配对</a:t>
                      </a:r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d=-0.63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7180">
                <a:tc>
                  <a:txBody>
                    <a:bodyPr/>
                    <a:p>
                      <a:pPr algn="l"/>
                      <a:r>
                        <a:rPr lang="en-US" altLang="zh-CN" sz="1600" b="1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Black</a:t>
                      </a:r>
                      <a:endParaRPr lang="en-US" altLang="zh-CN" sz="1600" b="1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-0.11 / 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-0.11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0.004 / 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0.004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配对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d=</a:t>
                      </a:r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-0.18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7180">
                <a:tc>
                  <a:txBody>
                    <a:bodyPr/>
                    <a:p>
                      <a:pPr algn="l"/>
                      <a:r>
                        <a:rPr lang="en-US" altLang="zh-CN" sz="1600" b="1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Hispanic</a:t>
                      </a:r>
                      <a:endParaRPr lang="en-US" altLang="zh-CN" sz="1600" b="1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-0.07 / 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-0.07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0.15 / 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0.15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配对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d=</a:t>
                      </a:r>
                      <a:r>
                        <a:rPr lang="en-US" altLang="zh-CN" sz="1600" b="0" i="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-0.36</a:t>
                      </a:r>
                      <a:endParaRPr lang="en-US" altLang="zh-CN" sz="1600" b="0" i="0">
                        <a:solidFill>
                          <a:srgbClr val="22222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718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White-Asian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303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0.17 / 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0.17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0.37 / 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0.37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配对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d=</a:t>
                      </a: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-0.33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718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White-Black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278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0.25 / 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0.25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0.36 / 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0.36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配对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d=</a:t>
                      </a: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-0.22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White-Hispanic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271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0.17 / 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0.17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0.41 / </a:t>
                      </a:r>
                      <a:r>
                        <a:rPr lang="en-US" altLang="zh-CN" sz="160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0.41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配对</a:t>
                      </a:r>
                      <a:r>
                        <a:rPr lang="en-US" altLang="zh-CN" sz="1600">
                          <a:solidFill>
                            <a:srgbClr val="22222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d=</a:t>
                      </a: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-0.44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35"/>
          <p:cNvSpPr txBox="1"/>
          <p:nvPr>
            <p:custDataLst>
              <p:tags r:id="rId7"/>
            </p:custDataLst>
          </p:nvPr>
        </p:nvSpPr>
        <p:spPr>
          <a:xfrm>
            <a:off x="308610" y="2058670"/>
            <a:ext cx="8604250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3365" y="3209290"/>
            <a:ext cx="3077210" cy="18230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97230" y="3291840"/>
            <a:ext cx="367220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Study 4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考察了不同种族群体在文化感知 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BIAT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上的内隐偏好。非白人族裔在 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Good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条件下偏好本族，</a:t>
            </a:r>
            <a:r>
              <a:rPr lang="en-US" altLang="zh-CN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Bad </a:t>
            </a:r>
            <a:r>
              <a:rPr lang="zh-CN" altLang="en-US" sz="16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条件下偏好白人。白人组在两个条件下都偏好白人。所有结果均与原文高度一致，百分误差很小。</a:t>
            </a:r>
            <a:endParaRPr lang="zh-CN" altLang="en-US" sz="16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3294112" y="55130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45110" y="-5715"/>
            <a:ext cx="8604250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Study 5 · </a:t>
            </a:r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跨文化比较（</a:t>
            </a:r>
            <a:r>
              <a:rPr lang="en-US" altLang="zh-CN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 vs IS </a:t>
            </a:r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犹太人）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9705" y="2348865"/>
            <a:ext cx="4958715" cy="257619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🌍 核心发现：</a:t>
            </a:r>
            <a:endParaRPr lang="zh-CN" altLang="en-US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US 犹太人：美国犹太人在 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Good 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条件下偏好本族，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Bad 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条件下反而偏好基督徒，（认同美国主流</a:t>
            </a:r>
            <a:r>
              <a:rPr lang="zh-CN" altLang="en-US" sz="2100" b="1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基督教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文化）</a:t>
            </a:r>
            <a:endParaRPr lang="zh-CN" altLang="en-US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IS 犹太人：两个条件均显著偏好内群，支持文化语境效应（</a:t>
            </a:r>
            <a:r>
              <a:rPr lang="zh-CN" altLang="en-US" sz="2100" b="1">
                <a:solidFill>
                  <a:schemeClr val="accent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犹太教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为优势文化）</a:t>
            </a:r>
            <a:endParaRPr lang="zh-CN" altLang="en-US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→ 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Bad 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关联更易受文化语境影响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 </a:t>
            </a:r>
            <a:endParaRPr lang="zh-CN" altLang="en-US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✅ 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与原文一致</a:t>
            </a:r>
            <a:endParaRPr lang="zh-CN" altLang="en-US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579755" y="965835"/>
          <a:ext cx="7938770" cy="1064260"/>
        </p:xfrm>
        <a:graphic>
          <a:graphicData uri="http://schemas.openxmlformats.org/drawingml/2006/table">
            <a:tbl>
              <a:tblPr/>
              <a:tblGrid>
                <a:gridCol w="1052195"/>
                <a:gridCol w="528320"/>
                <a:gridCol w="1807210"/>
                <a:gridCol w="1704975"/>
                <a:gridCol w="2846070"/>
              </a:tblGrid>
              <a:tr h="32766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群体</a:t>
                      </a:r>
                      <a:endParaRPr lang="zh-CN" altLang="en-US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N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Good M 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(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复现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/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原文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)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Bad M </a:t>
                      </a:r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(复现/原文)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检验结果</a:t>
                      </a:r>
                      <a:endParaRPr lang="zh-CN" altLang="en-US" sz="18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US </a:t>
                      </a:r>
                      <a:r>
                        <a:rPr lang="zh-CN" altLang="en-US" sz="160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犹太人</a:t>
                      </a:r>
                      <a:endParaRPr lang="zh-CN" altLang="en-US" sz="160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111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0.395 / 0.418*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0.208 / 0.22*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配对 </a:t>
                      </a: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t=4.16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58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IS </a:t>
                      </a:r>
                      <a:r>
                        <a:rPr lang="zh-CN" altLang="en-US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犹太人</a:t>
                      </a:r>
                      <a:endParaRPr lang="zh-CN" altLang="en-US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91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0.51 / 0.51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0.47 / 0.47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配对 </a:t>
                      </a:r>
                      <a:r>
                        <a:rPr lang="en-US" altLang="zh-CN" sz="1600" b="0" i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t=0.83</a:t>
                      </a:r>
                      <a:endParaRPr lang="en-US" altLang="zh-CN" sz="1600" b="0" i="0">
                        <a:solidFill>
                          <a:srgbClr val="2C3E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6675" marR="66675" marT="26670" marB="2667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9700" y="2355850"/>
            <a:ext cx="3843020" cy="24314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3294112" y="766574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45110" y="209550"/>
            <a:ext cx="860425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遇到的问题与解决方案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565" y="1290955"/>
            <a:ext cx="4636770" cy="355092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问题1：</a:t>
            </a:r>
            <a:r>
              <a:rPr lang="en-US" altLang="zh-CN" sz="21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Study 2 Jewish / Hindu Bad </a:t>
            </a:r>
            <a:r>
              <a:rPr lang="zh-CN" altLang="en-US" sz="21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条件符号与原文相反</a:t>
            </a:r>
            <a:endParaRPr lang="en-US" altLang="zh-CN" sz="21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342900" lvl="0" indent="-342900" algn="just">
              <a:buClrTx/>
              <a:buSzTx/>
              <a:buFont typeface="Wingdings" panose="05000000000000000000" charset="0"/>
              <a:buChar char="ü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现象：复现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Bad M = -0.048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，原文 +0.05</a:t>
            </a:r>
            <a:endParaRPr lang="en-US" altLang="zh-CN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342900" lvl="0" indent="-342900" algn="just">
              <a:buClrTx/>
              <a:buSzTx/>
              <a:buFont typeface="Wingdings" panose="05000000000000000000" charset="0"/>
              <a:buChar char="ü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排查：检查 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 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一致、代码未写反、原始数据正确</a:t>
            </a:r>
            <a:endParaRPr lang="en-US" altLang="zh-CN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342900" lvl="0" indent="-342900" algn="just">
              <a:buClrTx/>
              <a:buSzTx/>
              <a:buFont typeface="Wingdings" panose="05000000000000000000" charset="0"/>
              <a:buChar char="ü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结论：两个值均接近零（|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M|&lt;0.1），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单样本 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 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不显著，效应可忽略，属于接近零值的随机波动</a:t>
            </a:r>
            <a:endParaRPr lang="en-US" altLang="zh-CN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342900" lvl="0" indent="-342900" algn="just">
              <a:buClrTx/>
              <a:buSzTx/>
              <a:buFont typeface="Wingdings" panose="05000000000000000000" charset="0"/>
              <a:buChar char="ü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处理：“基本复现”，不影响核心推论</a:t>
            </a:r>
            <a:endParaRPr lang="zh-CN" altLang="en-US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59655" y="1290320"/>
            <a:ext cx="4192270" cy="355155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问题2：</a:t>
            </a:r>
            <a:r>
              <a:rPr lang="en-US" altLang="zh-CN" sz="21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Study 5 US </a:t>
            </a:r>
            <a:r>
              <a:rPr lang="zh-CN" altLang="en-US" sz="21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样本量不一致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（111 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vs 107）</a:t>
            </a:r>
            <a:endParaRPr lang="en-US" altLang="zh-CN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342900" lvl="0" indent="-342900" algn="just">
              <a:buClrTx/>
              <a:buSzTx/>
              <a:buFont typeface="Wingdings" panose="05000000000000000000" charset="0"/>
              <a:buChar char="ü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现象：复现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N=111，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原文 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N=107</a:t>
            </a:r>
            <a:endParaRPr lang="en-US" altLang="zh-CN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342900" lvl="0" indent="-342900" algn="just">
              <a:buClrTx/>
              <a:buSzTx/>
              <a:buFont typeface="Wingdings" panose="05000000000000000000" charset="0"/>
              <a:buChar char="ü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排查：原始数据中 6 名 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US 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被试有重复记录</a:t>
            </a:r>
            <a:endParaRPr lang="en-US" altLang="zh-CN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342900" lvl="0" indent="-342900" algn="just">
              <a:buClrTx/>
              <a:buSzTx/>
              <a:buFont typeface="Wingdings" panose="05000000000000000000" charset="0"/>
              <a:buChar char="ü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处理：去重后均值和原文非常接近（</a:t>
            </a:r>
            <a:r>
              <a:rPr lang="en-US" altLang="zh-CN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Good 0.395 vs 0.41），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结论不变</a:t>
            </a:r>
            <a:endParaRPr lang="zh-CN" altLang="en-US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3294112" y="766574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45110" y="209550"/>
            <a:ext cx="860425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可能影响复现的因素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560" y="1059815"/>
            <a:ext cx="9134475" cy="24149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500"/>
              </a:spcAft>
              <a:buAutoNum type="arabicPeriod"/>
            </a:pPr>
            <a:r>
              <a:rPr lang="zh-CN" altLang="en-US" sz="1400" b="1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数据重复记录：</a:t>
            </a:r>
            <a:r>
              <a:rPr lang="zh-CN" altLang="en-US" sz="140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Study 5 的原始数据中，6 名 US 被试同时有 PI（Project Implicit）和 UVA（University of Virginia）两条记录（相同 session_id 但 Sample 列不同）。这可能是数据合并时的重复录入。这导致我再第一次复现原始代码时多计了。</a:t>
            </a:r>
            <a:endParaRPr lang="zh-CN" altLang="en-US" sz="140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ts val="500"/>
              </a:spcAft>
              <a:buAutoNum type="arabicPeriod"/>
            </a:pPr>
            <a:r>
              <a:rPr lang="zh-CN" altLang="en-US" sz="1400" b="1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样本量差异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：不同筛选条件（如缺失值处理方式）可能导致有效样本量的微小差异，进而影响描述统计值。</a:t>
            </a:r>
            <a:endParaRPr lang="zh-CN" altLang="en-US" sz="14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ts val="500"/>
              </a:spcAft>
              <a:buAutoNum type="arabicPeriod"/>
            </a:pPr>
            <a:r>
              <a:rPr lang="zh-CN" altLang="en-US" sz="1400" b="1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数据预处理差异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：不同软件（</a:t>
            </a:r>
            <a:r>
              <a:rPr lang="en-US" altLang="zh-CN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 vs SPSS vs SAS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）在计算 </a:t>
            </a:r>
            <a:r>
              <a:rPr lang="en-US" altLang="zh-CN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 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分数时可能存在舍入误差或默认参数差异。</a:t>
            </a:r>
            <a:endParaRPr lang="zh-CN" altLang="en-US" sz="14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ts val="500"/>
              </a:spcAft>
              <a:buAutoNum type="arabicPeriod"/>
            </a:pPr>
            <a:r>
              <a:rPr lang="zh-CN" altLang="en-US" sz="1400" b="1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舍入误差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：原文报告的均值与标准差可能已经过舍入，百分误差计算时需考虑此精度限制。</a:t>
            </a:r>
            <a:endParaRPr lang="zh-CN" altLang="en-US" sz="14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ts val="500"/>
              </a:spcAft>
              <a:buAutoNum type="arabicPeriod"/>
            </a:pPr>
            <a:r>
              <a:rPr lang="zh-CN" altLang="en-US" sz="1400" b="1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符号反转问题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en-US" altLang="zh-CN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Study 2 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的 </a:t>
            </a:r>
            <a:r>
              <a:rPr lang="en-US" altLang="zh-CN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Jewish 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和 </a:t>
            </a:r>
            <a:r>
              <a:rPr lang="en-US" altLang="zh-CN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Hindu bad 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条件存在复现均值与原文符号相反的情况，但绝对值均接近零。</a:t>
            </a:r>
            <a:endParaRPr lang="zh-CN" altLang="en-US" sz="14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ts val="500"/>
              </a:spcAft>
              <a:buAutoNum type="arabicPeriod"/>
            </a:pPr>
            <a:r>
              <a:rPr lang="zh-CN" altLang="en-US" sz="1400" b="1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版本差异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：不同版本的 </a:t>
            </a:r>
            <a:r>
              <a:rPr lang="en-US" altLang="zh-CN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 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包（特别是</a:t>
            </a:r>
            <a:r>
              <a:rPr lang="en-US" altLang="zh-CN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 effsize 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和</a:t>
            </a:r>
            <a:r>
              <a:rPr lang="en-US" altLang="zh-CN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 BayesFactor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）可能在计算 </a:t>
            </a:r>
            <a:r>
              <a:rPr lang="en-US" altLang="zh-CN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Cohen’s d </a:t>
            </a:r>
            <a:r>
              <a:rPr lang="zh-CN" altLang="en-US" sz="1400" b="0" i="0">
                <a:solidFill>
                  <a:srgbClr val="2C3E5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和贝叶斯因子时存在细微差异。</a:t>
            </a:r>
            <a:endParaRPr lang="zh-CN" altLang="en-US" sz="14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ts val="500"/>
              </a:spcAft>
              <a:buAutoNum type="arabicPeriod"/>
            </a:pPr>
            <a:endParaRPr lang="zh-CN" altLang="en-US" sz="1400" b="0" i="0">
              <a:solidFill>
                <a:srgbClr val="2C3E5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3294112" y="55130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45110" y="-5715"/>
            <a:ext cx="8604250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结论</a:t>
            </a:r>
            <a:endParaRPr lang="zh-CN" altLang="en-US" sz="2800" b="1" dirty="0">
              <a:ln w="6350">
                <a:noFill/>
              </a:ln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6413" y="3724275"/>
            <a:ext cx="8081645" cy="80137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spcBef>
                <a:spcPct val="0"/>
              </a:spcBef>
              <a:spcAft>
                <a:spcPts val="500"/>
              </a:spcAft>
              <a:buFont typeface="Arial" panose="020B0604020202020204"/>
              <a:buNone/>
            </a:pPr>
            <a:endParaRPr lang="zh-CN" altLang="en-US" sz="600" b="1" i="0">
              <a:solidFill>
                <a:srgbClr val="1D69A3"/>
              </a:solidFill>
              <a:latin typeface="Calibri" panose="020F0502020204030204" charset="0"/>
              <a:ea typeface="Montserrat"/>
              <a:cs typeface="Calibri" panose="020F0502020204030204" charset="0"/>
            </a:endParaRPr>
          </a:p>
          <a:p>
            <a:pPr indent="0" algn="ctr" fontAlgn="auto">
              <a:spcBef>
                <a:spcPct val="0"/>
              </a:spcBef>
              <a:spcAft>
                <a:spcPts val="500"/>
              </a:spcAft>
              <a:buFont typeface="Arial" panose="020B0604020202020204"/>
              <a:buNone/>
            </a:pPr>
            <a:r>
              <a:rPr lang="en-US" altLang="zh-CN" sz="3600" b="1" i="0">
                <a:solidFill>
                  <a:srgbClr val="1D69A3"/>
                </a:solidFill>
                <a:latin typeface="Montserrat"/>
                <a:ea typeface="Montserrat"/>
              </a:rPr>
              <a:t>Thank You </a:t>
            </a:r>
            <a:r>
              <a:rPr lang="zh-CN" altLang="en-US" sz="3600" b="1" i="0">
                <a:solidFill>
                  <a:srgbClr val="1D69A3"/>
                </a:solidFill>
                <a:latin typeface="Montserrat"/>
                <a:ea typeface="Montserrat"/>
              </a:rPr>
              <a:t>🙏</a:t>
            </a:r>
            <a:endParaRPr lang="zh-CN" altLang="en-US" sz="3600" b="1" i="0">
              <a:solidFill>
                <a:srgbClr val="1D69A3"/>
              </a:solidFill>
              <a:latin typeface="Montserrat"/>
              <a:ea typeface="Montserra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7365" y="1000125"/>
            <a:ext cx="7940675" cy="2353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成功复现核心效应：</a:t>
            </a:r>
            <a:endParaRPr lang="zh-CN" altLang="en-US" sz="2100" b="0" i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algn="just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非优势群体在 Good-focal （以积极词为焦点的联想测验）上内群偏好，Bad-focal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（以消极词为焦点的联想测验）</a:t>
            </a: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上外群或减弱；</a:t>
            </a:r>
            <a:endParaRPr lang="zh-CN" altLang="en-US" sz="2100" b="0" i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优势群体在两种条件下均内群偏好</a:t>
            </a:r>
            <a:endParaRPr lang="zh-CN" altLang="en-US" sz="2100" b="0" i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该模式在种族、宗教、性取向、文化感知和跨文化比较中均得到验证</a:t>
            </a:r>
            <a:endParaRPr lang="zh-CN" altLang="en-US" sz="2100" b="0" i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21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内隐态度受 社会认同 与 文化学习 双重塑造</a:t>
            </a:r>
            <a:endParaRPr lang="zh-CN" altLang="en-US" sz="2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b="11796"/>
          <a:stretch>
            <a:fillRect/>
          </a:stretch>
        </p:blipFill>
        <p:spPr>
          <a:xfrm>
            <a:off x="184785" y="0"/>
            <a:ext cx="3803650" cy="51441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b="41500"/>
          <a:stretch>
            <a:fillRect/>
          </a:stretch>
        </p:blipFill>
        <p:spPr>
          <a:xfrm>
            <a:off x="4123690" y="0"/>
            <a:ext cx="49733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2943" y="1491615"/>
            <a:ext cx="8081645" cy="86296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spcBef>
                <a:spcPct val="0"/>
              </a:spcBef>
              <a:spcAft>
                <a:spcPts val="500"/>
              </a:spcAft>
              <a:buFont typeface="Arial" panose="020B0604020202020204"/>
              <a:buNone/>
            </a:pPr>
            <a:endParaRPr lang="zh-CN" altLang="en-US" sz="600" b="1" i="0">
              <a:solidFill>
                <a:srgbClr val="1D69A3"/>
              </a:solidFill>
              <a:latin typeface="Calibri" panose="020F0502020204030204" charset="0"/>
              <a:ea typeface="Montserrat"/>
              <a:cs typeface="Calibri" panose="020F0502020204030204" charset="0"/>
            </a:endParaRPr>
          </a:p>
          <a:p>
            <a:pPr indent="0" algn="ctr" fontAlgn="auto">
              <a:spcBef>
                <a:spcPct val="0"/>
              </a:spcBef>
              <a:spcAft>
                <a:spcPts val="500"/>
              </a:spcAft>
              <a:buFont typeface="Arial" panose="020B0604020202020204"/>
              <a:buNone/>
            </a:pPr>
            <a:r>
              <a:rPr lang="zh-CN" altLang="en-US" sz="4000" b="1" i="0">
                <a:solidFill>
                  <a:srgbClr val="1D69A3"/>
                </a:solidFill>
                <a:latin typeface="Montserrat"/>
                <a:ea typeface="宋体" panose="02010600030101010101" pitchFamily="2" charset="-122"/>
              </a:rPr>
              <a:t>感谢聆听，欢迎讨论</a:t>
            </a:r>
            <a:r>
              <a:rPr lang="en-US" altLang="zh-CN" sz="3600" b="1" i="0">
                <a:solidFill>
                  <a:srgbClr val="1D69A3"/>
                </a:solidFill>
                <a:latin typeface="Montserrat"/>
                <a:ea typeface="Montserrat"/>
              </a:rPr>
              <a:t> </a:t>
            </a:r>
            <a:r>
              <a:rPr lang="zh-CN" altLang="en-US" sz="3600" b="1" i="0">
                <a:solidFill>
                  <a:srgbClr val="1D69A3"/>
                </a:solidFill>
                <a:latin typeface="Montserrat"/>
                <a:ea typeface="Montserrat"/>
              </a:rPr>
              <a:t>🙏</a:t>
            </a:r>
            <a:endParaRPr lang="zh-CN" altLang="en-US" sz="3600" b="1" i="0">
              <a:solidFill>
                <a:srgbClr val="1D69A3"/>
              </a:solidFill>
              <a:latin typeface="Montserrat"/>
              <a:ea typeface="Montserra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0" y="3233564"/>
            <a:ext cx="9144000" cy="54006"/>
            <a:chOff x="2190216" y="0"/>
            <a:chExt cx="7128792" cy="108012"/>
          </a:xfrm>
        </p:grpSpPr>
        <p:sp>
          <p:nvSpPr>
            <p:cNvPr id="11" name="矩形 10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2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3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4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6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7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8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9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0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1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2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3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4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5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6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7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8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19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20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21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22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23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24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25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26.xml><?xml version="1.0" encoding="utf-8"?>
<p:tagLst xmlns:p="http://schemas.openxmlformats.org/presentationml/2006/main">
  <p:tag name="TABLE_ENDDRAG_ORIGIN_RECT" val="657*135"/>
  <p:tag name="TABLE_ENDDRAG_RECT" val="35*53*657*135"/>
</p:tagLst>
</file>

<file path=ppt/tags/tag27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28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29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0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1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2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3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4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5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6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7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8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39.xml><?xml version="1.0" encoding="utf-8"?>
<p:tagLst xmlns:p="http://schemas.openxmlformats.org/presentationml/2006/main">
  <p:tag name="KSO_WM_DIAGRAM_VIRTUALLY_FRAME" val="{&quot;height&quot;:352.2208661417323,&quot;left&quot;:24.3,&quot;top&quot;:-0.45,&quot;width&quot;:677.5}"/>
</p:tagLst>
</file>

<file path=ppt/tags/tag40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41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42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43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44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45.xml><?xml version="1.0" encoding="utf-8"?>
<p:tagLst xmlns:p="http://schemas.openxmlformats.org/presentationml/2006/main">
  <p:tag name="KSO_WM_DIAGRAM_VIRTUALLY_FRAME" val="{&quot;height&quot;:362.18984251968504,&quot;left&quot;:19.75,&quot;top&quot;:43.410157480314965,&quot;width&quot;:697.95}"/>
</p:tagLst>
</file>

<file path=ppt/tags/tag46.xml><?xml version="1.0" encoding="utf-8"?>
<p:tagLst xmlns:p="http://schemas.openxmlformats.org/presentationml/2006/main">
  <p:tag name="KSO_WM_DIAGRAM_VIRTUALLY_FRAME" val="{&quot;height&quot;:362.18984251968504,&quot;left&quot;:19.75,&quot;top&quot;:43.410157480314965,&quot;width&quot;:697.95}"/>
</p:tagLst>
</file>

<file path=ppt/tags/tag47.xml><?xml version="1.0" encoding="utf-8"?>
<p:tagLst xmlns:p="http://schemas.openxmlformats.org/presentationml/2006/main">
  <p:tag name="KSO_WM_DIAGRAM_VIRTUALLY_FRAME" val="{&quot;height&quot;:362.18984251968504,&quot;left&quot;:19.75,&quot;top&quot;:43.410157480314965,&quot;width&quot;:697.95}"/>
</p:tagLst>
</file>

<file path=ppt/tags/tag48.xml><?xml version="1.0" encoding="utf-8"?>
<p:tagLst xmlns:p="http://schemas.openxmlformats.org/presentationml/2006/main">
  <p:tag name="KSO_WM_DIAGRAM_VIRTUALLY_FRAME" val="{&quot;height&quot;:362.18984251968504,&quot;left&quot;:19.75,&quot;top&quot;:43.410157480314965,&quot;width&quot;:697.95}"/>
</p:tagLst>
</file>

<file path=ppt/tags/tag49.xml><?xml version="1.0" encoding="utf-8"?>
<p:tagLst xmlns:p="http://schemas.openxmlformats.org/presentationml/2006/main">
  <p:tag name="KSO_WM_DIAGRAM_VIRTUALLY_FRAME" val="{&quot;height&quot;:362.18984251968504,&quot;left&quot;:19.75,&quot;top&quot;:43.410157480314965,&quot;width&quot;:697.95}"/>
</p:tagLst>
</file>

<file path=ppt/tags/tag50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1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2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3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4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5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6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7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8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ags/tag59.xml><?xml version="1.0" encoding="utf-8"?>
<p:tagLst xmlns:p="http://schemas.openxmlformats.org/presentationml/2006/main">
  <p:tag name="KSO_WM_DIAGRAM_VIRTUALLY_FRAME" val="{&quot;height&quot;:263.16070866141735,&quot;left&quot;:170.6428346456693,&quot;top&quot;:88.61015748031495,&quot;width&quot;:511.9546456692913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1D69A3"/>
      </a:accent1>
      <a:accent2>
        <a:srgbClr val="84CBC3"/>
      </a:accent2>
      <a:accent3>
        <a:srgbClr val="F8D158"/>
      </a:accent3>
      <a:accent4>
        <a:srgbClr val="F57365"/>
      </a:accent4>
      <a:accent5>
        <a:srgbClr val="7FC9EC"/>
      </a:accent5>
      <a:accent6>
        <a:srgbClr val="8689D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3551</Words>
  <Application>WPS 演示</Application>
  <PresentationFormat>全屏显示(16:9)</PresentationFormat>
  <Paragraphs>376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Times New Roman</vt:lpstr>
      <vt:lpstr>Montserrat</vt:lpstr>
      <vt:lpstr>Segoe Print</vt:lpstr>
      <vt:lpstr>Calibri</vt:lpstr>
      <vt:lpstr>Wingdings</vt:lpstr>
      <vt:lpstr>Arial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张铭钰</cp:lastModifiedBy>
  <cp:revision>35</cp:revision>
  <dcterms:created xsi:type="dcterms:W3CDTF">2016-04-09T09:29:00Z</dcterms:created>
  <dcterms:modified xsi:type="dcterms:W3CDTF">2026-06-11T11:53:14Z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A3E3229EC3D0481CA746917B7690E951_12</vt:lpwstr>
  </property>
</Properties>
</file>